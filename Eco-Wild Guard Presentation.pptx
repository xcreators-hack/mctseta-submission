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9" r:id="rId3"/>
    <p:sldId id="270" r:id="rId4"/>
    <p:sldId id="259" r:id="rId5"/>
    <p:sldId id="261" r:id="rId6"/>
    <p:sldId id="262" r:id="rId7"/>
    <p:sldId id="263" r:id="rId8"/>
    <p:sldId id="264" r:id="rId9"/>
    <p:sldId id="266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4775" y="2312640"/>
            <a:ext cx="4362450" cy="39052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480673" y="2941290"/>
            <a:ext cx="5230653" cy="67047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5280"/>
              </a:lnSpc>
            </a:pPr>
            <a:r>
              <a:rPr sz="4800" b="1" i="0" u="none">
                <a:solidFill>
                  <a:srgbClr val="0F172A"/>
                </a:solidFill>
                <a:latin typeface="Poppins"/>
              </a:rPr>
              <a:t>Eco-Wild Guard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7875" y="3802260"/>
            <a:ext cx="8096250" cy="6286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475"/>
              </a:lnSpc>
            </a:pPr>
            <a:r>
              <a:rPr sz="1650" b="0" i="0" u="none">
                <a:solidFill>
                  <a:srgbClr val="475569"/>
                </a:solidFill>
                <a:latin typeface="Lato"/>
              </a:rPr>
              <a:t>An Automated Early-Warning &amp; Roadside Mitigation Safety System for High-Risk Transit Corridors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CDE37D-9768-BBC9-1B51-8252C00E75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46133B-A34C-60E4-1CB4-6D0F47C35F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0"/>
            <a:ext cx="10082981" cy="4525963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Mpumalanga has major transport and heavy-haulage routes that pass alongside or through areas where wildlife naturally moves. This creates a dangerous interaction between </a:t>
            </a:r>
            <a:r>
              <a:rPr lang="en-US" b="1" dirty="0"/>
              <a:t>wildlife movement and heavy road traffic</a:t>
            </a:r>
          </a:p>
          <a:p>
            <a:r>
              <a:rPr lang="en-US" dirty="0"/>
              <a:t>According to the Endangered Wildlife Trust (EWT), its roadkill database recorded </a:t>
            </a:r>
            <a:r>
              <a:rPr lang="en-US" b="1" dirty="0"/>
              <a:t>8,569 wildlife roadkill incidents between 2012 and 2024</a:t>
            </a:r>
            <a:r>
              <a:rPr lang="en-US" dirty="0"/>
              <a:t> across the </a:t>
            </a:r>
            <a:r>
              <a:rPr lang="en-US" dirty="0" err="1"/>
              <a:t>Bakwena</a:t>
            </a:r>
            <a:r>
              <a:rPr lang="en-US" dirty="0"/>
              <a:t> N1/N4, TRAC N4 and N3 toll routes.</a:t>
            </a:r>
          </a:p>
          <a:p>
            <a:r>
              <a:rPr lang="en-US" dirty="0"/>
              <a:t>Which result in </a:t>
            </a:r>
            <a:r>
              <a:rPr lang="en-US" b="1" dirty="0"/>
              <a:t>wildlife deaths and injuries, danger to vehicle occupants, vehicle damage, traffic disruption and financial losses</a:t>
            </a:r>
            <a:r>
              <a:rPr lang="en-US" dirty="0"/>
              <a:t>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30376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5B29B-0612-37FC-E1D7-08120242C7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005F8-FFF0-399B-90DD-36FC9BCD54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0289458" cy="4525963"/>
          </a:xfrm>
        </p:spPr>
        <p:txBody>
          <a:bodyPr/>
          <a:lstStyle/>
          <a:p>
            <a:r>
              <a:rPr lang="en-US" dirty="0"/>
              <a:t>We propose the solution of ‘</a:t>
            </a:r>
            <a:r>
              <a:rPr lang="en-US" dirty="0" err="1"/>
              <a:t>ecoWildGuard</a:t>
            </a:r>
            <a:r>
              <a:rPr lang="en-US" dirty="0"/>
              <a:t>’ which is  a </a:t>
            </a:r>
            <a:r>
              <a:rPr lang="en-US" b="1" dirty="0"/>
              <a:t>smart wildlife and heavy-haulage safety system</a:t>
            </a:r>
            <a:r>
              <a:rPr lang="en-US" dirty="0"/>
              <a:t>.</a:t>
            </a:r>
          </a:p>
          <a:p>
            <a:r>
              <a:rPr lang="en-US" dirty="0"/>
              <a:t>detects wildlife near high-risk road crossings and sends an early warning to approaching trucks.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1464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71500" y="476250"/>
            <a:ext cx="5550693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Eco-Wild Guard Overview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125" y="0"/>
            <a:ext cx="5857875" cy="6858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500" y="1238250"/>
            <a:ext cx="5550693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5km Predictive Hazard Prevention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1500" y="1685925"/>
            <a:ext cx="5286375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334155"/>
                </a:solidFill>
                <a:latin typeface="Lato"/>
              </a:rPr>
              <a:t>Eco-Wild Guard combines roadside motion intelligence with real-time telematics to prevent catastrophic collisions before trucks reach high-risk crossing zones.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1500" y="2615207"/>
            <a:ext cx="5286375" cy="77688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39"/>
              </a:lnSpc>
            </a:pPr>
            <a:r>
              <a:rPr sz="1275" b="0" i="0" u="none">
                <a:solidFill>
                  <a:srgbClr val="334155"/>
                </a:solidFill>
                <a:latin typeface="Lato"/>
              </a:rPr>
              <a:t>When animals approach roadside corridors, the system triggers in-cab warnings 5km out while activating automated physical boom gates and variable speed-limit signs.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338387"/>
            <a:ext cx="3492549" cy="2943225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9799" y="2338387"/>
            <a:ext cx="3492549" cy="29432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8099" y="2338387"/>
            <a:ext cx="3492549" cy="29432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150" y="2633662"/>
            <a:ext cx="571500" cy="571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" y="3395662"/>
            <a:ext cx="31471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PIR &amp; Motion Array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9150" y="3843337"/>
            <a:ext cx="2997249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Solar-powered roadside infrared and motion sensors placed along known crossing routes to detect animal movement day and night.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97449" y="2633662"/>
            <a:ext cx="571500" cy="5715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97449" y="3395662"/>
            <a:ext cx="31471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Edge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7449" y="3843337"/>
            <a:ext cx="2997249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On-device AI algorithms analyze movement vector and thermal footprints to filter out non-hazardous movement and false positives.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75749" y="2633662"/>
            <a:ext cx="571500" cy="5715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375749" y="3395662"/>
            <a:ext cx="3147112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5km Telemetry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749" y="3843337"/>
            <a:ext cx="2997249" cy="10287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0" i="0" u="none">
                <a:solidFill>
                  <a:srgbClr val="334155"/>
                </a:solidFill>
                <a:latin typeface="Lato"/>
              </a:rPr>
              <a:t>Instant long-range wireless broadcast transmits real-time alerts to approaching heavy haulage trucks 5 kilometers out.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40324" y="2776537"/>
            <a:ext cx="285750" cy="285750"/>
          </a:xfrm>
          <a:prstGeom prst="rect">
            <a:avLst/>
          </a:prstGeom>
        </p:spPr>
      </p:pic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80524" y="2776537"/>
            <a:ext cx="361950" cy="28575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71500" y="476250"/>
            <a:ext cx="11601450" cy="16927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r>
              <a:rPr lang="en-US" sz="2700" b="1" dirty="0">
                <a:solidFill>
                  <a:srgbClr val="0F172A"/>
                </a:solidFill>
                <a:latin typeface="Poppins"/>
              </a:rPr>
              <a:t>System methodology</a:t>
            </a:r>
          </a:p>
          <a:p>
            <a:r>
              <a:rPr lang="en-US" sz="2800" dirty="0">
                <a:solidFill>
                  <a:srgbClr val="64748B"/>
                </a:solidFill>
                <a:latin typeface="Lato"/>
              </a:rPr>
              <a:t>A multi-layered architectural approach integrating roadside IoT, long-range telemetry, and 3D spatial twin mapping.</a:t>
            </a:r>
          </a:p>
          <a:p>
            <a:pPr algn="l"/>
            <a:endParaRPr lang="en-US" sz="2700" b="1" i="0" u="none" dirty="0">
              <a:solidFill>
                <a:srgbClr val="0F172A"/>
              </a:solidFill>
              <a:latin typeface="Poppi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687" y="2000250"/>
            <a:ext cx="5357812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200" y="2000250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Physical Boom Gates: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Deploys automated physical barriers to temporarily hold traffic during verified large-herd crossings.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657475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Variable Speed-Limit (VSL) Signs: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Dynamically updates roadside LED displays to lower speed limits from 80 km/h to 30 km/h.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3314700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In-Cab HUD Warnings: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Sends audible and visual hazard distance counts directly into approaching truck cabs.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3971925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Automated Reset: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Re-opens corridor and resets speed limits once roadside motion sensors confirm clear pathways.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000250"/>
            <a:ext cx="5357812" cy="36195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Automated Roadside Triggers</a:t>
            </a:r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19300"/>
            <a:ext cx="152400" cy="1809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676525"/>
            <a:ext cx="152400" cy="180975"/>
          </a:xfrm>
          <a:prstGeom prst="rect">
            <a:avLst/>
          </a:prstGeom>
        </p:spPr>
      </p:pic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333750"/>
            <a:ext cx="152400" cy="180975"/>
          </a:xfrm>
          <a:prstGeom prst="rect">
            <a:avLst/>
          </a:prstGeom>
        </p:spPr>
      </p:pic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990975"/>
            <a:ext cx="152400" cy="1809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2687" y="2000250"/>
            <a:ext cx="5357812" cy="36195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8200" y="2000250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Real-Time 3D Corridor Twin: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Interactive spatial mapping provides dispatch centers full real-time visibility into active wildlife triggers.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8200" y="2657475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Fleet Compliance Auditing: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Tracks individual truck speed responses, braking behavior, and driver adherence to automated VSL warnings.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200" y="3314700"/>
            <a:ext cx="5091112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Predictive Corridor Analytics: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Heatmaps animal crossing trends over time to optimize fleet scheduling during peak wildlife activity.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000250"/>
            <a:ext cx="5357812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3D Spatial Fleet Tracking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019300"/>
            <a:ext cx="152400" cy="180975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2676525"/>
            <a:ext cx="152400" cy="180975"/>
          </a:xfrm>
          <a:prstGeom prst="rect">
            <a:avLst/>
          </a:prstGeom>
        </p:spPr>
      </p:pic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00" y="3333750"/>
            <a:ext cx="152400" cy="18097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4095750"/>
            <a:ext cx="2541240" cy="133350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7419" y="2390775"/>
            <a:ext cx="2541240" cy="113347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3339" y="4095750"/>
            <a:ext cx="2541240" cy="113347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79259" y="2390775"/>
            <a:ext cx="2541240" cy="11334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1500" y="3790950"/>
            <a:ext cx="11049000" cy="38100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988" y="4295775"/>
            <a:ext cx="234826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59669"/>
                </a:solidFill>
                <a:latin typeface="Poppins SemiBold"/>
              </a:rPr>
              <a:t>1. Detection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3900" y="4629150"/>
            <a:ext cx="2236440" cy="6000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Lato"/>
              </a:rPr>
              <a:t>Roadside PIR &amp; motion sensors detect animal movement near transit path.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03908" y="2590800"/>
            <a:ext cx="234826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59669"/>
                </a:solidFill>
                <a:latin typeface="Poppins SemiBold"/>
              </a:rPr>
              <a:t>2. Early Warning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59819" y="2924175"/>
            <a:ext cx="223644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Lato"/>
              </a:rPr>
              <a:t>5km telemetry broadcast alerts approaching coal trucks instantly.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39828" y="4295775"/>
            <a:ext cx="234826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59669"/>
                </a:solidFill>
                <a:latin typeface="Poppins SemiBold"/>
              </a:rPr>
              <a:t>3. Physical Trigger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5739" y="4629150"/>
            <a:ext cx="223644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Lato"/>
              </a:rPr>
              <a:t>Automated boom gates lower &amp; VSL signs drop speed limits.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5748" y="2590800"/>
            <a:ext cx="2348262" cy="2571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350" b="0" i="0" u="none">
                <a:solidFill>
                  <a:srgbClr val="059669"/>
                </a:solidFill>
                <a:latin typeface="Poppins SemiBold"/>
              </a:rPr>
              <a:t>4. 3D Spatial Audit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1659" y="2924175"/>
            <a:ext cx="2236440" cy="4000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1575"/>
              </a:lnSpc>
            </a:pPr>
            <a:r>
              <a:rPr sz="1050" b="0" i="0" u="none">
                <a:solidFill>
                  <a:srgbClr val="334155"/>
                </a:solidFill>
                <a:latin typeface="Lato"/>
              </a:rPr>
              <a:t>Real-time telemetry maps event logs to logistics dispatch HQ.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Automated Safety Sequence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737345" y="37052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4573265" y="37052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7409184" y="37052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245104" y="3705225"/>
            <a:ext cx="209550" cy="20955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38100">
            <a:solidFill>
              <a:srgbClr val="10B98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" y="2809875"/>
            <a:ext cx="5357812" cy="2000250"/>
          </a:xfrm>
          <a:prstGeom prst="rect">
            <a:avLst/>
          </a:prstGeom>
        </p:spPr>
      </p:pic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2687" y="2809875"/>
            <a:ext cx="5357812" cy="20002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52500" y="3143250"/>
            <a:ext cx="4875609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Commercialisation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2500" y="3590925"/>
            <a:ext cx="4643437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Hardware Infrastructure + B2B SaaS: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Solar sensor nodes and boom gate hardware sale/lease coupled with per-truck monthly telemetry SaaS subscriptions for logistics operators.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43687" y="3143250"/>
            <a:ext cx="4875609" cy="333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0" i="0" u="none">
                <a:solidFill>
                  <a:srgbClr val="059669"/>
                </a:solidFill>
                <a:latin typeface="Poppins SemiBold"/>
              </a:rPr>
              <a:t>Target Market &amp; ESG 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43687" y="3590925"/>
            <a:ext cx="4643437" cy="7715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025"/>
              </a:lnSpc>
            </a:pPr>
            <a:r>
              <a:rPr sz="1350" b="1" i="0" u="none">
                <a:solidFill>
                  <a:srgbClr val="334155"/>
                </a:solidFill>
                <a:latin typeface="Lato"/>
              </a:rPr>
              <a:t>Mining &amp; Heavy Logistics Fleets:</a:t>
            </a:r>
            <a:r>
              <a:rPr sz="1350" b="0" i="0" u="none">
                <a:solidFill>
                  <a:srgbClr val="334155"/>
                </a:solidFill>
                <a:latin typeface="Lato"/>
              </a:rPr>
              <a:t> Enables coal companies and haulage contractors to fulfill corporate ESG mandates, reduce fleet insurance claims, and guarantee corridor safety.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476250"/>
            <a:ext cx="11601450" cy="5238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700" b="1" i="0" u="none">
                <a:solidFill>
                  <a:srgbClr val="0F172A"/>
                </a:solidFill>
                <a:latin typeface="Poppins"/>
              </a:rPr>
              <a:t>Business &amp; Market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539</Words>
  <Application>Microsoft Office PowerPoint</Application>
  <PresentationFormat>Widescreen</PresentationFormat>
  <Paragraphs>44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5" baseType="lpstr">
      <vt:lpstr>Arial</vt:lpstr>
      <vt:lpstr>Calibri</vt:lpstr>
      <vt:lpstr>Lato</vt:lpstr>
      <vt:lpstr>Poppins</vt:lpstr>
      <vt:lpstr>Poppins SemiBold</vt:lpstr>
      <vt:lpstr>Office Theme</vt:lpstr>
      <vt:lpstr>PowerPoint Presentation</vt:lpstr>
      <vt:lpstr>Problem Statement</vt:lpstr>
      <vt:lpstr>Solution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Life88 skills</cp:lastModifiedBy>
  <cp:revision>2</cp:revision>
  <dcterms:created xsi:type="dcterms:W3CDTF">2013-01-27T09:14:16Z</dcterms:created>
  <dcterms:modified xsi:type="dcterms:W3CDTF">2026-09-17T19:41:38Z</dcterms:modified>
  <cp:category/>
</cp:coreProperties>
</file>