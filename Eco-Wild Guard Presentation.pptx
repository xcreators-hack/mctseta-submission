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9" r:id="rId3"/>
    <p:sldId id="270" r:id="rId4"/>
    <p:sldId id="261" r:id="rId5"/>
    <p:sldId id="262" r:id="rId6"/>
    <p:sldId id="263" r:id="rId7"/>
    <p:sldId id="264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33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434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21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74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66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49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66935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44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71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323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815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04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05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353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6990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834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1597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476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2897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3155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6963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415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02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088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50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249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08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13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64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670" y="1355506"/>
            <a:ext cx="5848657" cy="134765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4" name="TextBox 3"/>
          <p:cNvSpPr txBox="1"/>
          <p:nvPr/>
        </p:nvSpPr>
        <p:spPr>
          <a:xfrm>
            <a:off x="3480673" y="2941290"/>
            <a:ext cx="5230653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 dirty="0">
                <a:solidFill>
                  <a:srgbClr val="0F172A"/>
                </a:solidFill>
                <a:latin typeface="Poppins"/>
              </a:rPr>
              <a:t>Eco-Wild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802260"/>
            <a:ext cx="8096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475569"/>
                </a:solidFill>
                <a:latin typeface="Lato"/>
              </a:rPr>
              <a:t>An Automated Early-Warning &amp; Roadside Mitigation Safety System for High-Risk Transit Corridors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DE37D-9768-BBC9-1B51-8252C00E7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6133B-A34C-60E4-1CB4-6D0F47C35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0082981" cy="4525963"/>
          </a:xfrm>
        </p:spPr>
        <p:txBody>
          <a:bodyPr>
            <a:normAutofit/>
          </a:bodyPr>
          <a:lstStyle/>
          <a:p>
            <a:r>
              <a:rPr lang="en-US" sz="2200" dirty="0"/>
              <a:t>Mpumalanga has major transport and heavy-haulage routes that pass alongside or through areas where wildlife naturally moves. This creates a dangerous interaction between </a:t>
            </a:r>
            <a:r>
              <a:rPr lang="en-US" sz="2200" b="1" dirty="0"/>
              <a:t>wildlife movement and heavy road traffic</a:t>
            </a:r>
          </a:p>
          <a:p>
            <a:r>
              <a:rPr lang="en-US" sz="2200" dirty="0"/>
              <a:t>According to the Endangered Wildlife Trust (EWT),  database recorded </a:t>
            </a:r>
            <a:r>
              <a:rPr lang="en-US" sz="2200" b="1" dirty="0"/>
              <a:t>8,569 wildlife roadkill incidents between 2012 and 2024</a:t>
            </a:r>
            <a:r>
              <a:rPr lang="en-US" sz="2200" dirty="0"/>
              <a:t> across the Bakwena N1/N4, TRAC N4 and N3 toll routes.</a:t>
            </a:r>
          </a:p>
          <a:p>
            <a:r>
              <a:rPr lang="en-US" sz="2200" dirty="0"/>
              <a:t>Which result in </a:t>
            </a:r>
            <a:r>
              <a:rPr lang="en-US" sz="2200" b="1" dirty="0"/>
              <a:t>wildlife deaths and injuries, danger to vehicle occupants, vehicle damage, traffic disruption and financial losses</a:t>
            </a:r>
            <a:r>
              <a:rPr lang="en-US" sz="22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03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5B29B-0612-37FC-E1D7-08120242C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005F8-FFF0-399B-90DD-36FC9BCD5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0289458" cy="4525963"/>
          </a:xfrm>
        </p:spPr>
        <p:txBody>
          <a:bodyPr/>
          <a:lstStyle/>
          <a:p>
            <a:r>
              <a:rPr lang="en-US" sz="1600" dirty="0">
                <a:latin typeface="Arial Rounded MT Bold" panose="020F0704030504030204" pitchFamily="34" charset="0"/>
              </a:rPr>
              <a:t>We propose the solution of ‘eco-</a:t>
            </a:r>
            <a:r>
              <a:rPr lang="en-US" sz="1600" dirty="0" err="1">
                <a:latin typeface="Arial Rounded MT Bold" panose="020F0704030504030204" pitchFamily="34" charset="0"/>
              </a:rPr>
              <a:t>WildGuard</a:t>
            </a:r>
            <a:r>
              <a:rPr lang="en-US" sz="1600" dirty="0">
                <a:latin typeface="Arial Rounded MT Bold" panose="020F0704030504030204" pitchFamily="34" charset="0"/>
              </a:rPr>
              <a:t>’ which is  a </a:t>
            </a:r>
            <a:r>
              <a:rPr lang="en-US" sz="1600" b="1" dirty="0">
                <a:latin typeface="Arial Rounded MT Bold" panose="020F0704030504030204" pitchFamily="34" charset="0"/>
              </a:rPr>
              <a:t>smart wildlife and heavy-haulage safety system</a:t>
            </a:r>
            <a:r>
              <a:rPr lang="en-US" sz="1600" dirty="0">
                <a:latin typeface="Arial Rounded MT Bold" panose="020F0704030504030204" pitchFamily="34" charset="0"/>
              </a:rPr>
              <a:t>.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detects wildlife near high-risk road crossings and sends an early warning to approaching trucks</a:t>
            </a:r>
          </a:p>
          <a:p>
            <a:r>
              <a:rPr lang="en-US" sz="1600" dirty="0">
                <a:solidFill>
                  <a:srgbClr val="334155"/>
                </a:solidFill>
                <a:latin typeface="Arial Rounded MT Bold" panose="020F0704030504030204" pitchFamily="34" charset="0"/>
              </a:rPr>
              <a:t>Eco-Wild Guard combines roadside motion intelligence with real-time telematics to prevent catastrophic collisions before trucks reach high-risk crossing zones.</a:t>
            </a:r>
            <a:endParaRPr lang="en-US" dirty="0">
              <a:solidFill>
                <a:srgbClr val="334155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146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8387"/>
            <a:ext cx="3492549" cy="2943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338387"/>
            <a:ext cx="3492549" cy="2943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338387"/>
            <a:ext cx="3492549" cy="2943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633662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395662"/>
            <a:ext cx="31471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latin typeface="Poppins SemiBold"/>
              </a:rPr>
              <a:t>PIR &amp; Motion Array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843337"/>
            <a:ext cx="2997249" cy="999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 dirty="0">
                <a:solidFill>
                  <a:srgbClr val="334155"/>
                </a:solidFill>
                <a:latin typeface="Arial Rounded MT Bold" panose="020F0704030504030204" pitchFamily="34" charset="0"/>
              </a:rPr>
              <a:t>We have</a:t>
            </a:r>
            <a:r>
              <a:rPr sz="1350" b="0" i="0" u="none" dirty="0">
                <a:solidFill>
                  <a:srgbClr val="334155"/>
                </a:solidFill>
                <a:latin typeface="Arial Rounded MT Bold" panose="020F0704030504030204" pitchFamily="34" charset="0"/>
              </a:rPr>
              <a:t> motion sensors placed along known crossing routes to detect animal movement day and night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449" y="2633662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7449" y="3395662"/>
            <a:ext cx="31471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latin typeface="Poppins SemiBold"/>
              </a:rPr>
              <a:t>Edge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49" y="3843337"/>
            <a:ext cx="299724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latin typeface="Arial Rounded MT Bold" panose="020F0704030504030204" pitchFamily="34" charset="0"/>
              </a:rPr>
              <a:t>On-device </a:t>
            </a:r>
            <a:r>
              <a:rPr lang="en-US" sz="1350" b="0" i="0" u="none" dirty="0">
                <a:latin typeface="Arial Rounded MT Bold" panose="020F0704030504030204" pitchFamily="34" charset="0"/>
              </a:rPr>
              <a:t>AI </a:t>
            </a:r>
            <a:r>
              <a:rPr sz="1350" b="0" i="0" u="none" dirty="0">
                <a:latin typeface="Arial Rounded MT Bold" panose="020F0704030504030204" pitchFamily="34" charset="0"/>
              </a:rPr>
              <a:t> analyze movement vector and thermal footprints to filter out non-hazardous movement and false positives</a:t>
            </a:r>
            <a:r>
              <a:rPr sz="1350" b="0" i="0" u="none" dirty="0">
                <a:latin typeface="Lato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749" y="2633662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75749" y="3395662"/>
            <a:ext cx="31471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latin typeface="Poppins SemiBold"/>
              </a:rPr>
              <a:t>5km 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749" y="3843337"/>
            <a:ext cx="299724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latin typeface="Arial Rounded MT Bold" panose="020F0704030504030204" pitchFamily="34" charset="0"/>
              </a:rPr>
              <a:t>Instant long-range wireless broadcast transmits real-time alerts to approaching heavy haulage trucks 5 kilometers out.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0324" y="2776537"/>
            <a:ext cx="285750" cy="2857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80524" y="2776537"/>
            <a:ext cx="361950" cy="2857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1692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700" b="1" dirty="0">
                <a:solidFill>
                  <a:srgbClr val="0F172A"/>
                </a:solidFill>
                <a:latin typeface="Poppins"/>
              </a:rPr>
              <a:t>System methodology</a:t>
            </a:r>
          </a:p>
          <a:p>
            <a:r>
              <a:rPr lang="en-US" sz="2800" dirty="0">
                <a:solidFill>
                  <a:srgbClr val="64748B"/>
                </a:solidFill>
                <a:latin typeface="Lato"/>
              </a:rPr>
              <a:t>A multi-layered architectural approach integrating roadside IoT, long-range telemetry, and 3D spatial twin mapping.</a:t>
            </a:r>
          </a:p>
          <a:p>
            <a:pPr algn="l"/>
            <a:endParaRPr lang="en-US" sz="2700" b="1" i="0" u="none" dirty="0">
              <a:solidFill>
                <a:srgbClr val="0F172A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5593" y="-59931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000250"/>
            <a:ext cx="5357812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2000250"/>
            <a:ext cx="5091112" cy="743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Arial Rounded MT Bold" panose="020F0704030504030204" pitchFamily="34" charset="0"/>
              </a:rPr>
              <a:t>Physical Boom Gates:</a:t>
            </a:r>
            <a:r>
              <a:rPr sz="1350" b="0" i="0" u="none" dirty="0">
                <a:solidFill>
                  <a:srgbClr val="334155"/>
                </a:solidFill>
                <a:latin typeface="Arial Rounded MT Bold" panose="020F0704030504030204" pitchFamily="34" charset="0"/>
              </a:rPr>
              <a:t> Deploys automated physical barriers to temporarily hold traffic during verified large-herd crossings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829690"/>
            <a:ext cx="5091112" cy="743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Arial Rounded MT Bold" panose="020F0704030504030204" pitchFamily="34" charset="0"/>
              </a:rPr>
              <a:t>Variable Speed-Limit (VSL) Signs:</a:t>
            </a:r>
            <a:r>
              <a:rPr sz="1350" b="0" i="0" u="none" dirty="0">
                <a:solidFill>
                  <a:srgbClr val="334155"/>
                </a:solidFill>
                <a:latin typeface="Arial Rounded MT Bold" panose="020F0704030504030204" pitchFamily="34" charset="0"/>
              </a:rPr>
              <a:t> Dynamically updates roadside LED displays to lower speed limits from 80 km/h to 30 km/h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5435" y="3697924"/>
            <a:ext cx="5091112" cy="486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Arial Rounded MT Bold" panose="020F0704030504030204" pitchFamily="34" charset="0"/>
              </a:rPr>
              <a:t>In-Cab HUD Warnings:</a:t>
            </a:r>
            <a:r>
              <a:rPr sz="1350" b="0" i="0" u="none" dirty="0">
                <a:solidFill>
                  <a:srgbClr val="334155"/>
                </a:solidFill>
                <a:latin typeface="Arial Rounded MT Bold" panose="020F0704030504030204" pitchFamily="34" charset="0"/>
              </a:rPr>
              <a:t> Sends audible and visual hazard distance counts directly into approaching truck cabs.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295" y="4774901"/>
            <a:ext cx="509111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Lato"/>
              </a:rPr>
              <a:t>Automated Reset: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Re-opens corridor and resets speed limits once roadside motion sensors confirm clear pathways.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000250"/>
            <a:ext cx="5357812" cy="3619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Automated Roadside Triggers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550" y="2216056"/>
            <a:ext cx="223947" cy="26593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488" y="2875816"/>
            <a:ext cx="274009" cy="325386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518" y="3760798"/>
            <a:ext cx="274009" cy="325386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86" y="4834701"/>
            <a:ext cx="274009" cy="3253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000250"/>
            <a:ext cx="5357812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2000250"/>
            <a:ext cx="5091112" cy="743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Arial Rounded MT Bold" panose="020F0704030504030204" pitchFamily="34" charset="0"/>
              </a:rPr>
              <a:t>Real-Time 3D Corridor Twin:</a:t>
            </a:r>
            <a:r>
              <a:rPr sz="1350" b="0" i="0" u="none" dirty="0">
                <a:solidFill>
                  <a:srgbClr val="334155"/>
                </a:solidFill>
                <a:latin typeface="Arial Rounded MT Bold" panose="020F0704030504030204" pitchFamily="34" charset="0"/>
              </a:rPr>
              <a:t> Interactive spatial mapping provides dispatch centers full real-time visibility into active wildlife triggers.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7738" y="3359214"/>
            <a:ext cx="5091112" cy="743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Arial Rounded MT Bold" panose="020F0704030504030204" pitchFamily="34" charset="0"/>
              </a:rPr>
              <a:t>Fleet Compliance Auditing:</a:t>
            </a:r>
            <a:r>
              <a:rPr sz="1350" b="0" i="0" u="none" dirty="0">
                <a:solidFill>
                  <a:srgbClr val="334155"/>
                </a:solidFill>
                <a:latin typeface="Arial Rounded MT Bold" panose="020F0704030504030204" pitchFamily="34" charset="0"/>
              </a:rPr>
              <a:t> Tracks individual truck speed responses, braking behavior, and driver adherence to automated VSL warnings.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738" y="4425746"/>
            <a:ext cx="5091112" cy="743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Arial Rounded MT Bold" panose="020F0704030504030204" pitchFamily="34" charset="0"/>
              </a:rPr>
              <a:t>Predictive Corridor Analytics:</a:t>
            </a:r>
            <a:r>
              <a:rPr sz="1350" b="0" i="0" u="none" dirty="0">
                <a:solidFill>
                  <a:srgbClr val="334155"/>
                </a:solidFill>
                <a:latin typeface="Arial Rounded MT Bold" panose="020F0704030504030204" pitchFamily="34" charset="0"/>
              </a:rPr>
              <a:t> Heatmaps animal crossing trends over time to optimize fleet scheduling during peak wildlife activity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000250"/>
            <a:ext cx="5357812" cy="3619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3D Spatial Fleet Tracking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129" y="2139054"/>
            <a:ext cx="340312" cy="40412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152" y="3625798"/>
            <a:ext cx="231317" cy="27468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041" y="4583060"/>
            <a:ext cx="231317" cy="2746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95750"/>
            <a:ext cx="2541240" cy="1333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195" y="2116216"/>
            <a:ext cx="2541240" cy="1133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095750"/>
            <a:ext cx="2541240" cy="1133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90775"/>
            <a:ext cx="2541240" cy="11334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9095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988" y="4295775"/>
            <a:ext cx="2541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 dirty="0">
                <a:latin typeface="Arial Rounded MT Bold" panose="020F0704030504030204" pitchFamily="34" charset="0"/>
              </a:rPr>
              <a:t>1.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629150"/>
            <a:ext cx="2236440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600" b="0" i="0" u="none" dirty="0">
                <a:solidFill>
                  <a:srgbClr val="334155"/>
                </a:solidFill>
                <a:latin typeface="Arial Rounded MT Bold" panose="020F0704030504030204" pitchFamily="34" charset="0"/>
              </a:rPr>
              <a:t>Roadside PIR &amp; motion sensors detect animal movement near transit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3908" y="2462212"/>
            <a:ext cx="234826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 dirty="0">
                <a:latin typeface="Arial Rounded MT Bold" panose="020F0704030504030204" pitchFamily="34" charset="0"/>
              </a:rPr>
              <a:t>2. Early Warning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9819" y="2836862"/>
            <a:ext cx="2236440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600" b="0" i="0" u="none" dirty="0">
                <a:latin typeface="Arial Rounded MT Bold" panose="020F0704030504030204" pitchFamily="34" charset="0"/>
              </a:rPr>
              <a:t>5km telemetry broadcast alerts approaching coal trucks instantly</a:t>
            </a:r>
            <a:r>
              <a:rPr sz="1050" b="0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9828" y="4295775"/>
            <a:ext cx="234826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 dirty="0">
                <a:latin typeface="Arial Rounded MT Bold" panose="020F0704030504030204" pitchFamily="34" charset="0"/>
              </a:rPr>
              <a:t>3. Physical 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5739" y="4629150"/>
            <a:ext cx="2236440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600" b="0" i="0" u="none" dirty="0">
                <a:latin typeface="Arial Rounded MT Bold" panose="020F0704030504030204" pitchFamily="34" charset="0"/>
              </a:rPr>
              <a:t>Automated boom gates lower &amp; VSL signs drop speed limits.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5748" y="2590800"/>
            <a:ext cx="234826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u="none" dirty="0">
                <a:latin typeface="Arial Rounded MT Bold" panose="020F0704030504030204" pitchFamily="34" charset="0"/>
              </a:rPr>
              <a:t>4. 3D Spatial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1659" y="2924175"/>
            <a:ext cx="22364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600" b="0" i="0" u="none" dirty="0">
                <a:latin typeface="Arial Rounded MT Bold" panose="020F0704030504030204" pitchFamily="34" charset="0"/>
              </a:rPr>
              <a:t>Real-time telemetry maps event logs to logistics dispatch HQ.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Automated Safety Sequence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45" y="37052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3265" y="37052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09184" y="37052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45104" y="37052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28874"/>
            <a:ext cx="5357812" cy="312635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809875"/>
            <a:ext cx="5357812" cy="2000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500" y="2476500"/>
            <a:ext cx="487560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latin typeface="Arial Rounded MT Bold" panose="020F0704030504030204" pitchFamily="34" charset="0"/>
              </a:rPr>
              <a:t>Commercialisation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5687" y="2956116"/>
            <a:ext cx="4643437" cy="3029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Arial Rounded MT Bold" panose="020F0704030504030204" pitchFamily="34" charset="0"/>
              </a:rPr>
              <a:t>Monthly subscription from mining &amp; transport companies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 Rounded MT Bold" panose="020F0704030504030204" pitchFamily="34" charset="0"/>
              </a:rPr>
              <a:t>Mining companies and logistics companies pay a </a:t>
            </a:r>
            <a:r>
              <a:rPr lang="en-US" sz="1400" b="1" dirty="0">
                <a:latin typeface="Arial Rounded MT Bold" panose="020F0704030504030204" pitchFamily="34" charset="0"/>
              </a:rPr>
              <a:t>monthly fee per truck or per fleet</a:t>
            </a:r>
            <a:r>
              <a:rPr lang="en-US" sz="1400" dirty="0">
                <a:latin typeface="Arial Rounded MT Bold" panose="020F0704030504030204" pitchFamily="34" charset="0"/>
              </a:rPr>
              <a:t> to use the system.</a:t>
            </a:r>
          </a:p>
          <a:p>
            <a:r>
              <a:rPr lang="en-US" sz="1400" b="1" dirty="0">
                <a:latin typeface="Arial Rounded MT Bold" panose="020F0704030504030204" pitchFamily="34" charset="0"/>
              </a:rPr>
              <a:t>On Installation fee: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 Rounded MT Bold" panose="020F0704030504030204" pitchFamily="34" charset="0"/>
              </a:rPr>
              <a:t>When a company joins, we charge an initial fee for installing the technology, such as: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 Rounded MT Bold" panose="020F0704030504030204" pitchFamily="34" charset="0"/>
              </a:rPr>
              <a:t>GPS integration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 Rounded MT Bold" panose="020F0704030504030204" pitchFamily="34" charset="0"/>
              </a:rPr>
              <a:t>Sensors/cameras where required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 Rounded MT Bold" panose="020F0704030504030204" pitchFamily="34" charset="0"/>
              </a:rPr>
              <a:t>Software setup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algn="l">
              <a:lnSpc>
                <a:spcPts val="2025"/>
              </a:lnSpc>
            </a:pPr>
            <a:endParaRPr sz="1350" b="0" i="0" u="none" dirty="0">
              <a:solidFill>
                <a:srgbClr val="334155"/>
              </a:solidFill>
              <a:latin typeface="Lat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43687" y="3143250"/>
            <a:ext cx="487560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latin typeface="Arial Rounded MT Bold" panose="020F0704030504030204" pitchFamily="34" charset="0"/>
              </a:rPr>
              <a:t>Target Market &amp; ESG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687" y="3590925"/>
            <a:ext cx="4643437" cy="998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500" b="1" dirty="0">
                <a:solidFill>
                  <a:srgbClr val="334155"/>
                </a:solidFill>
                <a:latin typeface="Arial Rounded MT Bold" panose="020F0704030504030204" pitchFamily="34" charset="0"/>
              </a:rPr>
              <a:t>Government and road Authorities</a:t>
            </a:r>
          </a:p>
          <a:p>
            <a:pPr algn="l">
              <a:lnSpc>
                <a:spcPts val="2025"/>
              </a:lnSpc>
            </a:pPr>
            <a:r>
              <a:rPr sz="1500" b="0" i="0" u="none" dirty="0">
                <a:solidFill>
                  <a:srgbClr val="334155"/>
                </a:solidFill>
                <a:latin typeface="Arial Rounded MT Bold" panose="020F0704030504030204" pitchFamily="34" charset="0"/>
              </a:rPr>
              <a:t>.</a:t>
            </a:r>
            <a:r>
              <a:rPr lang="en-US" sz="1500" b="0" i="0" u="none" dirty="0">
                <a:solidFill>
                  <a:srgbClr val="334155"/>
                </a:solidFill>
                <a:latin typeface="Arial Rounded MT Bold" panose="020F0704030504030204" pitchFamily="34" charset="0"/>
              </a:rPr>
              <a:t>Mining and coal companies</a:t>
            </a:r>
          </a:p>
          <a:p>
            <a:pPr algn="l">
              <a:lnSpc>
                <a:spcPts val="2025"/>
              </a:lnSpc>
            </a:pPr>
            <a:r>
              <a:rPr lang="en-US" sz="1500" b="0" i="0" u="none" dirty="0">
                <a:solidFill>
                  <a:srgbClr val="334155"/>
                </a:solidFill>
                <a:latin typeface="Arial Rounded MT Bold" panose="020F0704030504030204" pitchFamily="34" charset="0"/>
              </a:rPr>
              <a:t>Heavy-Haulage and Logisti</a:t>
            </a:r>
            <a:r>
              <a:rPr lang="en-US" sz="1500" dirty="0">
                <a:solidFill>
                  <a:srgbClr val="334155"/>
                </a:solidFill>
                <a:latin typeface="Arial Rounded MT Bold" panose="020F0704030504030204" pitchFamily="34" charset="0"/>
              </a:rPr>
              <a:t>c companies</a:t>
            </a:r>
            <a:endParaRPr lang="en-US" sz="1500" b="0" i="0" u="none" dirty="0">
              <a:solidFill>
                <a:srgbClr val="334155"/>
              </a:solidFill>
              <a:latin typeface="Arial Rounded MT Bold" panose="020F0704030504030204" pitchFamily="34" charset="0"/>
            </a:endParaRPr>
          </a:p>
          <a:p>
            <a:pPr algn="l">
              <a:lnSpc>
                <a:spcPts val="2025"/>
              </a:lnSpc>
            </a:pPr>
            <a:endParaRPr sz="1350" b="0" i="0" u="none" dirty="0">
              <a:solidFill>
                <a:srgbClr val="334155"/>
              </a:solidFill>
              <a:latin typeface="La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Business &amp; Market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590</TotalTime>
  <Words>517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Arial Rounded MT Bold</vt:lpstr>
      <vt:lpstr>Calibri</vt:lpstr>
      <vt:lpstr>Lato</vt:lpstr>
      <vt:lpstr>Oswald SemiBold</vt:lpstr>
      <vt:lpstr>Poppins</vt:lpstr>
      <vt:lpstr>Poppins SemiBold</vt:lpstr>
      <vt:lpstr>Univers Condensed Light</vt:lpstr>
      <vt:lpstr>Orange Experience</vt:lpstr>
      <vt:lpstr>PowerPoint Presentation</vt:lpstr>
      <vt:lpstr>Problem Statement</vt:lpstr>
      <vt:lpstr>Solution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Life88 skills</cp:lastModifiedBy>
  <cp:revision>5</cp:revision>
  <dcterms:created xsi:type="dcterms:W3CDTF">2013-01-27T09:14:16Z</dcterms:created>
  <dcterms:modified xsi:type="dcterms:W3CDTF">2026-09-18T05:15:48Z</dcterms:modified>
  <cp:category/>
</cp:coreProperties>
</file>